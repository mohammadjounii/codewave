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adley" charset="1" panose="00000500000000000000"/>
      <p:regular r:id="rId18"/>
    </p:embeddedFont>
    <p:embeddedFont>
      <p:font typeface="Carlito" charset="1" panose="020F0502020204030204"/>
      <p:regular r:id="rId19"/>
    </p:embeddedFont>
    <p:embeddedFont>
      <p:font typeface="Carlito Bold" charset="1" panose="020F0502020204030204"/>
      <p:regular r:id="rId20"/>
    </p:embeddedFont>
    <p:embeddedFont>
      <p:font typeface="Radley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Relationship Id="rId6" Target="../media/image2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D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1575" y="3352800"/>
            <a:ext cx="8324850" cy="6934200"/>
            <a:chOff x="0" y="0"/>
            <a:chExt cx="1289737" cy="10742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074289"/>
            </a:xfrm>
            <a:custGeom>
              <a:avLst/>
              <a:gdLst/>
              <a:ahLst/>
              <a:cxnLst/>
              <a:rect r="r" b="b" t="t" l="l"/>
              <a:pathLst>
                <a:path h="1074289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074289"/>
                  </a:lnTo>
                  <a:lnTo>
                    <a:pt x="0" y="1074289"/>
                  </a:lnTo>
                  <a:close/>
                </a:path>
              </a:pathLst>
            </a:custGeom>
            <a:blipFill>
              <a:blip r:embed="rId2"/>
              <a:stretch>
                <a:fillRect l="-329" t="0" r="-3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16954500" cy="2172955"/>
            <a:chOff x="0" y="0"/>
            <a:chExt cx="22606000" cy="2897274"/>
          </a:xfrm>
        </p:grpSpPr>
        <p:sp>
          <p:nvSpPr>
            <p:cNvPr name="AutoShape 5" id="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cap="flat" w="25400">
              <a:solidFill>
                <a:srgbClr val="38235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66700"/>
              <a:ext cx="22606000" cy="2630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299"/>
                </a:lnSpc>
              </a:pPr>
              <a:r>
                <a:rPr lang="en-US" sz="14299" spc="-285" u="none">
                  <a:solidFill>
                    <a:srgbClr val="382350"/>
                  </a:solidFill>
                  <a:latin typeface="Radley"/>
                  <a:ea typeface="Radley"/>
                  <a:cs typeface="Radley"/>
                  <a:sym typeface="Radley"/>
                </a:rPr>
                <a:t>CodeWave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057900" cy="4491247"/>
            <a:chOff x="0" y="0"/>
            <a:chExt cx="8077200" cy="598832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8077200" cy="3637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sz="69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Motivation and Progress Challenges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4271339"/>
              <a:ext cx="8077200" cy="0"/>
            </a:xfrm>
            <a:prstGeom prst="line">
              <a:avLst/>
            </a:prstGeom>
            <a:ln cap="flat" w="25400">
              <a:solidFill>
                <a:srgbClr val="635F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4705206"/>
              <a:ext cx="80772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Understanding the hurdles that learners face daily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8616950"/>
            <a:ext cx="6886575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sz="2000">
                <a:solidFill>
                  <a:srgbClr val="635F9A"/>
                </a:solidFill>
                <a:latin typeface="Carlito"/>
                <a:ea typeface="Carlito"/>
                <a:cs typeface="Carlito"/>
                <a:sym typeface="Carlito"/>
              </a:rPr>
              <a:t>Many learners struggle with motivation and tracking progress, leading to frustration and drop-off. CodeWave addresses these pain points with a structured and supportive learning journey.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96400" y="666750"/>
            <a:ext cx="4010025" cy="8953500"/>
            <a:chOff x="0" y="0"/>
            <a:chExt cx="1479244" cy="3302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9244" cy="3302824"/>
            </a:xfrm>
            <a:custGeom>
              <a:avLst/>
              <a:gdLst/>
              <a:ahLst/>
              <a:cxnLst/>
              <a:rect r="r" b="b" t="t" l="l"/>
              <a:pathLst>
                <a:path h="3302824" w="1479244">
                  <a:moveTo>
                    <a:pt x="0" y="0"/>
                  </a:moveTo>
                  <a:lnTo>
                    <a:pt x="1479244" y="0"/>
                  </a:lnTo>
                  <a:lnTo>
                    <a:pt x="1479244" y="3302824"/>
                  </a:lnTo>
                  <a:lnTo>
                    <a:pt x="0" y="3302824"/>
                  </a:lnTo>
                  <a:close/>
                </a:path>
              </a:pathLst>
            </a:custGeom>
            <a:blipFill>
              <a:blip r:embed="rId2"/>
              <a:stretch>
                <a:fillRect l="0" t="-322" r="0" b="-32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666750"/>
            <a:ext cx="4676775" cy="8953500"/>
            <a:chOff x="0" y="0"/>
            <a:chExt cx="1725199" cy="3302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5199" cy="3302824"/>
            </a:xfrm>
            <a:custGeom>
              <a:avLst/>
              <a:gdLst/>
              <a:ahLst/>
              <a:cxnLst/>
              <a:rect r="r" b="b" t="t" l="l"/>
              <a:pathLst>
                <a:path h="3302824" w="1725199">
                  <a:moveTo>
                    <a:pt x="0" y="0"/>
                  </a:moveTo>
                  <a:lnTo>
                    <a:pt x="1725199" y="0"/>
                  </a:lnTo>
                  <a:lnTo>
                    <a:pt x="1725199" y="3302824"/>
                  </a:lnTo>
                  <a:lnTo>
                    <a:pt x="0" y="3302824"/>
                  </a:lnTo>
                  <a:close/>
                </a:path>
              </a:pathLst>
            </a:custGeom>
            <a:blipFill>
              <a:blip r:embed="rId3"/>
              <a:stretch>
                <a:fillRect l="0" t="-225" r="0" b="-22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54054" y="0"/>
            <a:ext cx="12633946" cy="8161058"/>
            <a:chOff x="0" y="0"/>
            <a:chExt cx="3111331" cy="2009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1331" cy="2009804"/>
            </a:xfrm>
            <a:custGeom>
              <a:avLst/>
              <a:gdLst/>
              <a:ahLst/>
              <a:cxnLst/>
              <a:rect r="r" b="b" t="t" l="l"/>
              <a:pathLst>
                <a:path h="2009804" w="3111331">
                  <a:moveTo>
                    <a:pt x="0" y="0"/>
                  </a:moveTo>
                  <a:lnTo>
                    <a:pt x="3111331" y="0"/>
                  </a:lnTo>
                  <a:lnTo>
                    <a:pt x="3111331" y="2009804"/>
                  </a:lnTo>
                  <a:lnTo>
                    <a:pt x="0" y="2009804"/>
                  </a:lnTo>
                  <a:close/>
                </a:path>
              </a:pathLst>
            </a:custGeom>
            <a:blipFill>
              <a:blip r:embed="rId2"/>
              <a:stretch>
                <a:fillRect l="-74" t="0" r="-7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14375"/>
            <a:ext cx="4619625" cy="550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24"/>
              </a:lnSpc>
              <a:spcBef>
                <a:spcPct val="0"/>
              </a:spcBef>
            </a:pPr>
            <a:r>
              <a:rPr lang="en-US" sz="6450">
                <a:solidFill>
                  <a:srgbClr val="1F2750"/>
                </a:solidFill>
                <a:latin typeface="Radley"/>
                <a:ea typeface="Radley"/>
                <a:cs typeface="Radley"/>
                <a:sym typeface="Radley"/>
              </a:rPr>
              <a:t>Solution Overview: Personalized Learning for Career Success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236423" y="8536486"/>
            <a:ext cx="6289396" cy="895350"/>
            <a:chOff x="0" y="0"/>
            <a:chExt cx="8385861" cy="1193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F2750"/>
                  </a:solidFill>
                  <a:latin typeface="Radley"/>
                  <a:ea typeface="Radley"/>
                  <a:cs typeface="Radley"/>
                  <a:sym typeface="Radley"/>
                </a:rPr>
                <a:t>User Journey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59460"/>
              <a:ext cx="8385861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b="true" sz="1800">
                  <a:solidFill>
                    <a:srgbClr val="1F275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 seamless path from learning to employment opportunities.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1F27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6D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6954500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C4DFFF"/>
                </a:solidFill>
                <a:latin typeface="Radley"/>
                <a:ea typeface="Radley"/>
                <a:cs typeface="Radley"/>
                <a:sym typeface="Radley"/>
              </a:rPr>
              <a:t>Core Features of CodeWave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3352800"/>
            <a:ext cx="3476954" cy="1096125"/>
            <a:chOff x="0" y="0"/>
            <a:chExt cx="4635939" cy="14615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4635939" cy="60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C4DFFF"/>
                  </a:solidFill>
                  <a:latin typeface="Radley"/>
                  <a:ea typeface="Radley"/>
                  <a:cs typeface="Radley"/>
                  <a:sym typeface="Radley"/>
                </a:rPr>
                <a:t>Onboarding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28262"/>
              <a:ext cx="4635939" cy="933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4"/>
                </a:lnSpc>
              </a:pPr>
              <a:r>
                <a:rPr lang="en-US" sz="1974">
                  <a:solidFill>
                    <a:srgbClr val="C4DFFF"/>
                  </a:solidFill>
                  <a:latin typeface="Carlito"/>
                  <a:ea typeface="Carlito"/>
                  <a:cs typeface="Carlito"/>
                  <a:sym typeface="Carlito"/>
                </a:rPr>
                <a:t>Personalized assessment for learner's journey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3352800"/>
            <a:ext cx="3476954" cy="1153139"/>
            <a:chOff x="0" y="0"/>
            <a:chExt cx="4635939" cy="153751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4635939" cy="60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C4DFFF"/>
                  </a:solidFill>
                  <a:latin typeface="Radley"/>
                  <a:ea typeface="Radley"/>
                  <a:cs typeface="Radley"/>
                  <a:sym typeface="Radley"/>
                </a:rPr>
                <a:t>Interactive Lessons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04280"/>
              <a:ext cx="4635939" cy="933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4"/>
                </a:lnSpc>
                <a:spcBef>
                  <a:spcPct val="0"/>
                </a:spcBef>
              </a:pPr>
              <a:r>
                <a:rPr lang="en-US" sz="1974" strike="noStrike" u="none">
                  <a:solidFill>
                    <a:srgbClr val="C4DFFF"/>
                  </a:solidFill>
                  <a:latin typeface="Carlito"/>
                  <a:ea typeface="Carlito"/>
                  <a:cs typeface="Carlito"/>
                  <a:sym typeface="Carlito"/>
                </a:rPr>
                <a:t>Hands-on coding tasks with instant feedback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81575" y="3352800"/>
            <a:ext cx="3407712" cy="1096125"/>
            <a:chOff x="0" y="0"/>
            <a:chExt cx="4543615" cy="14615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4543615" cy="60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C4DFFF"/>
                  </a:solidFill>
                  <a:latin typeface="Radley"/>
                  <a:ea typeface="Radley"/>
                  <a:cs typeface="Radley"/>
                  <a:sym typeface="Radley"/>
                </a:rPr>
                <a:t>Learning Paths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528262"/>
              <a:ext cx="4543615" cy="933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4"/>
                </a:lnSpc>
                <a:spcBef>
                  <a:spcPct val="0"/>
                </a:spcBef>
              </a:pPr>
              <a:r>
                <a:rPr lang="en-US" sz="1974" strike="noStrike" u="none">
                  <a:solidFill>
                    <a:srgbClr val="C4DFFF"/>
                  </a:solidFill>
                  <a:latin typeface="Carlito"/>
                  <a:ea typeface="Carlito"/>
                  <a:cs typeface="Carlito"/>
                  <a:sym typeface="Carlito"/>
                </a:rPr>
                <a:t>Structured modules for skill development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922520"/>
            <a:ext cx="4010025" cy="4697730"/>
            <a:chOff x="0" y="0"/>
            <a:chExt cx="1391532" cy="16301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2"/>
              <a:stretch>
                <a:fillRect l="0" t="-138" r="0" b="-13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81575" y="4922520"/>
            <a:ext cx="4010025" cy="4697730"/>
            <a:chOff x="0" y="0"/>
            <a:chExt cx="1391532" cy="163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3"/>
              <a:stretch>
                <a:fillRect l="0" t="-138" r="0" b="-13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6750" y="4922520"/>
            <a:ext cx="4010025" cy="4697730"/>
            <a:chOff x="0" y="0"/>
            <a:chExt cx="879848" cy="10307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9848" cy="1030739"/>
            </a:xfrm>
            <a:custGeom>
              <a:avLst/>
              <a:gdLst/>
              <a:ahLst/>
              <a:cxnLst/>
              <a:rect r="r" b="b" t="t" l="l"/>
              <a:pathLst>
                <a:path h="1030739" w="879848">
                  <a:moveTo>
                    <a:pt x="0" y="0"/>
                  </a:moveTo>
                  <a:lnTo>
                    <a:pt x="879848" y="0"/>
                  </a:lnTo>
                  <a:lnTo>
                    <a:pt x="879848" y="1030739"/>
                  </a:lnTo>
                  <a:lnTo>
                    <a:pt x="0" y="1030739"/>
                  </a:lnTo>
                  <a:close/>
                </a:path>
              </a:pathLst>
            </a:custGeom>
            <a:blipFill>
              <a:blip r:embed="rId4"/>
              <a:stretch>
                <a:fillRect l="0" t="-138" r="0" b="-13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11554" y="4922520"/>
            <a:ext cx="4010025" cy="4697730"/>
            <a:chOff x="0" y="0"/>
            <a:chExt cx="1391532" cy="1630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5"/>
              <a:stretch>
                <a:fillRect l="0" t="-138" r="0" b="-13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611554" y="3352800"/>
            <a:ext cx="3476954" cy="1153139"/>
            <a:chOff x="0" y="0"/>
            <a:chExt cx="4635939" cy="1537518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4635939" cy="601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70"/>
                </a:lnSpc>
                <a:spcBef>
                  <a:spcPct val="0"/>
                </a:spcBef>
              </a:pPr>
              <a:r>
                <a:rPr lang="en-US" sz="2764">
                  <a:solidFill>
                    <a:srgbClr val="C4DFFF"/>
                  </a:solidFill>
                  <a:latin typeface="Radley"/>
                  <a:ea typeface="Radley"/>
                  <a:cs typeface="Radley"/>
                  <a:sym typeface="Radley"/>
                </a:rPr>
                <a:t>Career Connection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04280"/>
              <a:ext cx="4635939" cy="933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4"/>
                </a:lnSpc>
                <a:spcBef>
                  <a:spcPct val="0"/>
                </a:spcBef>
              </a:pPr>
              <a:r>
                <a:rPr lang="en-US" sz="1974" strike="noStrike" u="none">
                  <a:solidFill>
                    <a:srgbClr val="C4DFFF"/>
                  </a:solidFill>
                  <a:latin typeface="Carlito"/>
                  <a:ea typeface="Carlito"/>
                  <a:cs typeface="Carlito"/>
                  <a:sym typeface="Carlito"/>
                </a:rPr>
                <a:t>CV-building and job offer matching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F27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76275"/>
            <a:ext cx="1582102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EBEEF3"/>
                </a:solidFill>
                <a:latin typeface="Radley"/>
                <a:ea typeface="Radley"/>
                <a:cs typeface="Radley"/>
                <a:sym typeface="Radley"/>
              </a:rPr>
              <a:t>User Flow</a:t>
            </a:r>
          </a:p>
        </p:txBody>
      </p:sp>
      <p:sp>
        <p:nvSpPr>
          <p:cNvPr name="AutoShape 3" id="3"/>
          <p:cNvSpPr/>
          <p:nvPr/>
        </p:nvSpPr>
        <p:spPr>
          <a:xfrm>
            <a:off x="8638517" y="6038850"/>
            <a:ext cx="11369473" cy="0"/>
          </a:xfrm>
          <a:prstGeom prst="line">
            <a:avLst/>
          </a:prstGeom>
          <a:ln cap="flat" w="19050">
            <a:solidFill>
              <a:srgbClr val="EBEE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833979" y="5545455"/>
            <a:ext cx="971550" cy="986790"/>
            <a:chOff x="0" y="0"/>
            <a:chExt cx="812800" cy="825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EBEE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4592955"/>
            <a:ext cx="195359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EBEEF3"/>
                </a:solidFill>
                <a:latin typeface="Carlito Bold"/>
                <a:ea typeface="Carlito Bold"/>
                <a:cs typeface="Carlito Bold"/>
                <a:sym typeface="Carlito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8125" y="6896100"/>
            <a:ext cx="195359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BEEF3"/>
                </a:solidFill>
                <a:latin typeface="Radley"/>
                <a:ea typeface="Radley"/>
                <a:cs typeface="Radley"/>
                <a:sym typeface="Radley"/>
              </a:rPr>
              <a:t>Initial assessment completed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4675" y="4592955"/>
            <a:ext cx="223327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EBEEF3"/>
                </a:solidFill>
                <a:latin typeface="Carlito Bold"/>
                <a:ea typeface="Carlito Bold"/>
                <a:cs typeface="Carlito Bold"/>
                <a:sym typeface="Carlito Bold"/>
              </a:rPr>
              <a:t>2027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4675" y="6896100"/>
            <a:ext cx="223327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BEEF3"/>
                </a:solidFill>
                <a:latin typeface="Radley"/>
                <a:ea typeface="Radley"/>
                <a:cs typeface="Radley"/>
                <a:sym typeface="Radley"/>
              </a:rPr>
              <a:t>Courses and projects started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11225" y="4592955"/>
            <a:ext cx="202351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EBEEF3"/>
                </a:solidFill>
                <a:latin typeface="Carlito Bold"/>
                <a:ea typeface="Carlito Bold"/>
                <a:cs typeface="Carlito Bold"/>
                <a:sym typeface="Carlito Bold"/>
              </a:rPr>
              <a:t>2028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11225" y="6896100"/>
            <a:ext cx="202351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BEEF3"/>
                </a:solidFill>
                <a:latin typeface="Radley"/>
                <a:ea typeface="Radley"/>
                <a:cs typeface="Radley"/>
                <a:sym typeface="Radley"/>
              </a:rPr>
              <a:t>Job applications submitted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5617227"/>
            <a:ext cx="4885244" cy="4363068"/>
            <a:chOff x="0" y="0"/>
            <a:chExt cx="1391532" cy="1242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2"/>
              <a:stretch>
                <a:fillRect l="-104" t="0" r="-10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86958" y="5620515"/>
            <a:ext cx="4847342" cy="4359780"/>
            <a:chOff x="0" y="0"/>
            <a:chExt cx="1391532" cy="1251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532" cy="1251567"/>
            </a:xfrm>
            <a:custGeom>
              <a:avLst/>
              <a:gdLst/>
              <a:ahLst/>
              <a:cxnLst/>
              <a:rect r="r" b="b" t="t" l="l"/>
              <a:pathLst>
                <a:path h="1251567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51567"/>
                  </a:lnTo>
                  <a:lnTo>
                    <a:pt x="0" y="1251567"/>
                  </a:lnTo>
                  <a:close/>
                </a:path>
              </a:pathLst>
            </a:custGeom>
            <a:blipFill>
              <a:blip r:embed="rId3"/>
              <a:stretch>
                <a:fillRect l="-458" t="0" r="-45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70656" y="5620515"/>
            <a:ext cx="4881562" cy="4359780"/>
            <a:chOff x="0" y="0"/>
            <a:chExt cx="1391532" cy="12427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532" cy="1242794"/>
            </a:xfrm>
            <a:custGeom>
              <a:avLst/>
              <a:gdLst/>
              <a:ahLst/>
              <a:cxnLst/>
              <a:rect r="r" b="b" t="t" l="l"/>
              <a:pathLst>
                <a:path h="1242794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242794"/>
                  </a:lnTo>
                  <a:lnTo>
                    <a:pt x="0" y="1242794"/>
                  </a:lnTo>
                  <a:close/>
                </a:path>
              </a:pathLst>
            </a:custGeom>
            <a:blipFill>
              <a:blip r:embed="rId4"/>
              <a:stretch>
                <a:fillRect l="-104" t="0" r="-10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3249275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635F9A"/>
                </a:solidFill>
                <a:latin typeface="Radley"/>
                <a:ea typeface="Radley"/>
                <a:cs typeface="Radley"/>
                <a:sym typeface="Radley"/>
              </a:rPr>
              <a:t>System 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886958" y="3464953"/>
            <a:ext cx="4671130" cy="2038592"/>
            <a:chOff x="0" y="0"/>
            <a:chExt cx="6228173" cy="271812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85725"/>
              <a:ext cx="6228173" cy="1004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65"/>
                </a:lnSpc>
                <a:spcBef>
                  <a:spcPct val="0"/>
                </a:spcBef>
              </a:pPr>
              <a:r>
                <a:rPr lang="en-US" sz="4546">
                  <a:solidFill>
                    <a:srgbClr val="1F2750"/>
                  </a:solidFill>
                  <a:latin typeface="Radley"/>
                  <a:ea typeface="Radley"/>
                  <a:cs typeface="Radley"/>
                  <a:sym typeface="Radley"/>
                </a:rPr>
                <a:t>Frontend UI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41690"/>
              <a:ext cx="6228173" cy="137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92"/>
                </a:lnSpc>
              </a:pPr>
              <a:r>
                <a:rPr lang="en-US" sz="2922">
                  <a:solidFill>
                    <a:srgbClr val="1F2750"/>
                  </a:solidFill>
                  <a:latin typeface="Carlito"/>
                  <a:ea typeface="Carlito"/>
                  <a:cs typeface="Carlito"/>
                  <a:sym typeface="Carlito"/>
                </a:rPr>
                <a:t>User-friendly interface for learning and tracking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58125" y="3464953"/>
            <a:ext cx="4671130" cy="2038592"/>
            <a:chOff x="0" y="0"/>
            <a:chExt cx="6228173" cy="271812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41690"/>
              <a:ext cx="6228173" cy="137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92"/>
                </a:lnSpc>
              </a:pPr>
              <a:r>
                <a:rPr lang="en-US" sz="2922">
                  <a:solidFill>
                    <a:srgbClr val="1F2750"/>
                  </a:solidFill>
                  <a:latin typeface="Carlito"/>
                  <a:ea typeface="Carlito"/>
                  <a:cs typeface="Carlito"/>
                  <a:sym typeface="Carlito"/>
                </a:rPr>
                <a:t>Manages user authentication and content delivery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85725"/>
              <a:ext cx="6228173" cy="1004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65"/>
                </a:lnSpc>
                <a:spcBef>
                  <a:spcPct val="0"/>
                </a:spcBef>
              </a:pPr>
              <a:r>
                <a:rPr lang="en-US" sz="4546">
                  <a:solidFill>
                    <a:srgbClr val="1F2750"/>
                  </a:solidFill>
                  <a:latin typeface="Radley"/>
                  <a:ea typeface="Radley"/>
                  <a:cs typeface="Radley"/>
                  <a:sym typeface="Radley"/>
                </a:rPr>
                <a:t>Backend API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64433" y="3464953"/>
            <a:ext cx="4671130" cy="2038592"/>
            <a:chOff x="0" y="0"/>
            <a:chExt cx="6228173" cy="271812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341690"/>
              <a:ext cx="6228173" cy="137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92"/>
                </a:lnSpc>
              </a:pPr>
              <a:r>
                <a:rPr lang="en-US" sz="2922">
                  <a:solidFill>
                    <a:srgbClr val="1F2750"/>
                  </a:solidFill>
                  <a:latin typeface="Carlito"/>
                  <a:ea typeface="Carlito"/>
                  <a:cs typeface="Carlito"/>
                  <a:sym typeface="Carlito"/>
                </a:rPr>
                <a:t>Facilitates assessments and personalized learning paths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85725"/>
              <a:ext cx="6228173" cy="1004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365"/>
                </a:lnSpc>
                <a:spcBef>
                  <a:spcPct val="0"/>
                </a:spcBef>
              </a:pPr>
              <a:r>
                <a:rPr lang="en-US" sz="4546">
                  <a:solidFill>
                    <a:srgbClr val="1F2750"/>
                  </a:solidFill>
                  <a:latin typeface="Radley"/>
                  <a:ea typeface="Radley"/>
                  <a:cs typeface="Radley"/>
                  <a:sym typeface="Radley"/>
                </a:rPr>
                <a:t>Learning Engine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7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6954500" cy="1995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EBEEF3"/>
                </a:solidFill>
                <a:latin typeface="Radley"/>
                <a:ea typeface="Radley"/>
                <a:cs typeface="Radley"/>
                <a:sym typeface="Radley"/>
              </a:rPr>
              <a:t>Database Model: Key Entities and Relationships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3184747"/>
            <a:ext cx="4010025" cy="1264178"/>
            <a:chOff x="0" y="0"/>
            <a:chExt cx="5346700" cy="168557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5346700" cy="705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64"/>
                </a:lnSpc>
                <a:spcBef>
                  <a:spcPct val="0"/>
                </a:spcBef>
              </a:pPr>
              <a:r>
                <a:rPr lang="en-US" sz="3188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User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22395"/>
              <a:ext cx="5346700" cy="1063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88"/>
                </a:lnSpc>
              </a:pPr>
              <a:r>
                <a:rPr lang="en-US" sz="2277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Profiles track learner progress and levels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3184747"/>
            <a:ext cx="3983669" cy="1321192"/>
            <a:chOff x="0" y="0"/>
            <a:chExt cx="5311558" cy="176158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5311558" cy="701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35"/>
                </a:lnSpc>
                <a:spcBef>
                  <a:spcPct val="0"/>
                </a:spcBef>
              </a:pPr>
              <a:r>
                <a:rPr lang="en-US" sz="3167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Project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95313"/>
              <a:ext cx="5311558" cy="10662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67"/>
                </a:lnSpc>
                <a:spcBef>
                  <a:spcPct val="0"/>
                </a:spcBef>
              </a:pPr>
              <a:r>
                <a:rPr lang="en-US" sz="2262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Submissions linked to real-world scenarios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81575" y="3159060"/>
            <a:ext cx="4010025" cy="1289865"/>
            <a:chOff x="0" y="0"/>
            <a:chExt cx="5346700" cy="171982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5346700" cy="7186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5"/>
                </a:lnSpc>
                <a:spcBef>
                  <a:spcPct val="0"/>
                </a:spcBef>
              </a:pPr>
              <a:r>
                <a:rPr lang="en-US" sz="3253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Course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27259"/>
              <a:ext cx="5346700" cy="1092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53"/>
                </a:lnSpc>
                <a:spcBef>
                  <a:spcPct val="0"/>
                </a:spcBef>
              </a:pPr>
              <a:r>
                <a:rPr lang="en-US" sz="2324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Learning paths contain structured content modules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4922520"/>
            <a:ext cx="4010025" cy="4697730"/>
            <a:chOff x="0" y="0"/>
            <a:chExt cx="1391532" cy="16301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2"/>
              <a:stretch>
                <a:fillRect l="0" t="-138" r="0" b="-13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81575" y="4922520"/>
            <a:ext cx="4010025" cy="4697730"/>
            <a:chOff x="0" y="0"/>
            <a:chExt cx="1391532" cy="163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3"/>
              <a:stretch>
                <a:fillRect l="0" t="-138" r="0" b="-13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6750" y="4922520"/>
            <a:ext cx="4010025" cy="4697730"/>
            <a:chOff x="0" y="0"/>
            <a:chExt cx="879848" cy="10307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9848" cy="1030739"/>
            </a:xfrm>
            <a:custGeom>
              <a:avLst/>
              <a:gdLst/>
              <a:ahLst/>
              <a:cxnLst/>
              <a:rect r="r" b="b" t="t" l="l"/>
              <a:pathLst>
                <a:path h="1030739" w="879848">
                  <a:moveTo>
                    <a:pt x="0" y="0"/>
                  </a:moveTo>
                  <a:lnTo>
                    <a:pt x="879848" y="0"/>
                  </a:lnTo>
                  <a:lnTo>
                    <a:pt x="879848" y="1030739"/>
                  </a:lnTo>
                  <a:lnTo>
                    <a:pt x="0" y="1030739"/>
                  </a:lnTo>
                  <a:close/>
                </a:path>
              </a:pathLst>
            </a:custGeom>
            <a:blipFill>
              <a:blip r:embed="rId4"/>
              <a:stretch>
                <a:fillRect l="0" t="-138" r="0" b="-13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11554" y="4922520"/>
            <a:ext cx="4010025" cy="4697730"/>
            <a:chOff x="0" y="0"/>
            <a:chExt cx="1391532" cy="1630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1532" cy="1630175"/>
            </a:xfrm>
            <a:custGeom>
              <a:avLst/>
              <a:gdLst/>
              <a:ahLst/>
              <a:cxnLst/>
              <a:rect r="r" b="b" t="t" l="l"/>
              <a:pathLst>
                <a:path h="1630175" w="1391532">
                  <a:moveTo>
                    <a:pt x="0" y="0"/>
                  </a:moveTo>
                  <a:lnTo>
                    <a:pt x="1391532" y="0"/>
                  </a:lnTo>
                  <a:lnTo>
                    <a:pt x="1391532" y="1630175"/>
                  </a:lnTo>
                  <a:lnTo>
                    <a:pt x="0" y="1630175"/>
                  </a:lnTo>
                  <a:close/>
                </a:path>
              </a:pathLst>
            </a:custGeom>
            <a:blipFill>
              <a:blip r:embed="rId5"/>
              <a:stretch>
                <a:fillRect l="0" t="-138" r="0" b="-13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611554" y="3159060"/>
            <a:ext cx="4061122" cy="1346879"/>
            <a:chOff x="0" y="0"/>
            <a:chExt cx="5414829" cy="179583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66675"/>
              <a:ext cx="5414829" cy="713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21"/>
                </a:lnSpc>
                <a:spcBef>
                  <a:spcPct val="0"/>
                </a:spcBef>
              </a:pPr>
              <a:r>
                <a:rPr lang="en-US" sz="3229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Assessment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10683"/>
              <a:ext cx="5414829" cy="1085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29"/>
                </a:lnSpc>
                <a:spcBef>
                  <a:spcPct val="0"/>
                </a:spcBef>
              </a:pPr>
              <a:r>
                <a:rPr lang="en-US" sz="2306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Initial tests track skills and progress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146263"/>
            <a:ext cx="7553325" cy="6934200"/>
            <a:chOff x="0" y="0"/>
            <a:chExt cx="2442972" cy="2242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972" cy="2242728"/>
            </a:xfrm>
            <a:custGeom>
              <a:avLst/>
              <a:gdLst/>
              <a:ahLst/>
              <a:cxnLst/>
              <a:rect r="r" b="b" t="t" l="l"/>
              <a:pathLst>
                <a:path h="2242728" w="2442972">
                  <a:moveTo>
                    <a:pt x="0" y="0"/>
                  </a:moveTo>
                  <a:lnTo>
                    <a:pt x="2442972" y="0"/>
                  </a:lnTo>
                  <a:lnTo>
                    <a:pt x="2442972" y="2242728"/>
                  </a:lnTo>
                  <a:lnTo>
                    <a:pt x="0" y="2242728"/>
                  </a:lnTo>
                  <a:close/>
                </a:path>
              </a:pathLst>
            </a:custGeom>
            <a:blipFill>
              <a:blip r:embed="rId2"/>
              <a:stretch>
                <a:fillRect l="-312" t="0" r="-31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143500"/>
            <a:ext cx="9296400" cy="5143500"/>
            <a:chOff x="0" y="0"/>
            <a:chExt cx="3882322" cy="21480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82322" cy="2148006"/>
            </a:xfrm>
            <a:custGeom>
              <a:avLst/>
              <a:gdLst/>
              <a:ahLst/>
              <a:cxnLst/>
              <a:rect r="r" b="b" t="t" l="l"/>
              <a:pathLst>
                <a:path h="2148006" w="3882322">
                  <a:moveTo>
                    <a:pt x="0" y="0"/>
                  </a:moveTo>
                  <a:lnTo>
                    <a:pt x="3882322" y="0"/>
                  </a:lnTo>
                  <a:lnTo>
                    <a:pt x="3882322" y="2148006"/>
                  </a:lnTo>
                  <a:lnTo>
                    <a:pt x="0" y="2148006"/>
                  </a:lnTo>
                  <a:close/>
                </a:path>
              </a:pathLst>
            </a:custGeom>
            <a:blipFill>
              <a:blip r:embed="rId3"/>
              <a:stretch>
                <a:fillRect l="-527" t="0" r="-52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8629650" cy="2719075"/>
            <a:chOff x="0" y="0"/>
            <a:chExt cx="11506200" cy="362543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57150"/>
              <a:ext cx="11506200" cy="1358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  <a:spcBef>
                  <a:spcPct val="0"/>
                </a:spcBef>
              </a:pPr>
              <a:r>
                <a:rPr lang="en-US" sz="7000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Feedback Loop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30456"/>
              <a:ext cx="11506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Continuous Improvement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137541"/>
              <a:ext cx="11506200" cy="487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9"/>
                </a:lnSpc>
              </a:pPr>
              <a:r>
                <a:rPr lang="en-US" sz="1999">
                  <a:solidFill>
                    <a:srgbClr val="635F9A"/>
                  </a:solidFill>
                  <a:latin typeface="Carlito"/>
                  <a:ea typeface="Carlito"/>
                  <a:cs typeface="Carlito"/>
                  <a:sym typeface="Carlito"/>
                </a:rPr>
                <a:t>Instant feedback helps learners improve quickly.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4675" y="7829550"/>
            <a:ext cx="5753100" cy="928370"/>
            <a:chOff x="0" y="0"/>
            <a:chExt cx="7670800" cy="12378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76708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Real-World Projects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49935"/>
              <a:ext cx="7670800" cy="487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99"/>
                </a:lnSpc>
              </a:pPr>
              <a:r>
                <a:rPr lang="en-US" sz="1999">
                  <a:solidFill>
                    <a:srgbClr val="635F9A"/>
                  </a:solidFill>
                  <a:latin typeface="Carlito"/>
                  <a:ea typeface="Carlito"/>
                  <a:cs typeface="Carlito"/>
                  <a:sym typeface="Carlito"/>
                </a:rPr>
                <a:t>Projects simulate hands-on scenarios and tasks.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057900" cy="3605422"/>
            <a:chOff x="0" y="0"/>
            <a:chExt cx="8077200" cy="480722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2875"/>
              <a:ext cx="8077200" cy="2456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sz="6999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Career Features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0" y="3090239"/>
              <a:ext cx="8077200" cy="0"/>
            </a:xfrm>
            <a:prstGeom prst="line">
              <a:avLst/>
            </a:prstGeom>
            <a:ln cap="flat" w="25400">
              <a:solidFill>
                <a:srgbClr val="E6E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3524106"/>
              <a:ext cx="8077200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Auto-generated CVs and personalized job matching services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8616950"/>
            <a:ext cx="6886575" cy="10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CodeWave connects learners to </a:t>
            </a:r>
            <a:r>
              <a:rPr lang="en-US" b="true" sz="200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career opportunities</a:t>
            </a:r>
            <a:r>
              <a:rPr lang="en-US" sz="20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 by auto-generating CVs based on completed courses and projects, while providing tailored job recommendations to enhance employability.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96400" y="666750"/>
            <a:ext cx="4010025" cy="8953500"/>
            <a:chOff x="0" y="0"/>
            <a:chExt cx="1479244" cy="33028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9244" cy="3302824"/>
            </a:xfrm>
            <a:custGeom>
              <a:avLst/>
              <a:gdLst/>
              <a:ahLst/>
              <a:cxnLst/>
              <a:rect r="r" b="b" t="t" l="l"/>
              <a:pathLst>
                <a:path h="3302824" w="1479244">
                  <a:moveTo>
                    <a:pt x="0" y="0"/>
                  </a:moveTo>
                  <a:lnTo>
                    <a:pt x="1479244" y="0"/>
                  </a:lnTo>
                  <a:lnTo>
                    <a:pt x="1479244" y="3302824"/>
                  </a:lnTo>
                  <a:lnTo>
                    <a:pt x="0" y="3302824"/>
                  </a:lnTo>
                  <a:close/>
                </a:path>
              </a:pathLst>
            </a:custGeom>
            <a:blipFill>
              <a:blip r:embed="rId2"/>
              <a:stretch>
                <a:fillRect l="0" t="-322" r="0" b="-32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666750"/>
            <a:ext cx="4676775" cy="8953500"/>
            <a:chOff x="0" y="0"/>
            <a:chExt cx="1725199" cy="33028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5199" cy="3302824"/>
            </a:xfrm>
            <a:custGeom>
              <a:avLst/>
              <a:gdLst/>
              <a:ahLst/>
              <a:cxnLst/>
              <a:rect r="r" b="b" t="t" l="l"/>
              <a:pathLst>
                <a:path h="3302824" w="1725199">
                  <a:moveTo>
                    <a:pt x="0" y="0"/>
                  </a:moveTo>
                  <a:lnTo>
                    <a:pt x="1725199" y="0"/>
                  </a:lnTo>
                  <a:lnTo>
                    <a:pt x="1725199" y="3302824"/>
                  </a:lnTo>
                  <a:lnTo>
                    <a:pt x="0" y="3302824"/>
                  </a:lnTo>
                  <a:close/>
                </a:path>
              </a:pathLst>
            </a:custGeom>
            <a:blipFill>
              <a:blip r:embed="rId3"/>
              <a:stretch>
                <a:fillRect l="0" t="-225" r="0" b="-22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5143500"/>
            <a:ext cx="4010025" cy="4491990"/>
            <a:chOff x="0" y="0"/>
            <a:chExt cx="1479244" cy="1657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9244" cy="1657034"/>
            </a:xfrm>
            <a:custGeom>
              <a:avLst/>
              <a:gdLst/>
              <a:ahLst/>
              <a:cxnLst/>
              <a:rect r="r" b="b" t="t" l="l"/>
              <a:pathLst>
                <a:path h="1657034" w="1479244">
                  <a:moveTo>
                    <a:pt x="0" y="0"/>
                  </a:moveTo>
                  <a:lnTo>
                    <a:pt x="1479244" y="0"/>
                  </a:lnTo>
                  <a:lnTo>
                    <a:pt x="1479244" y="1657034"/>
                  </a:lnTo>
                  <a:lnTo>
                    <a:pt x="0" y="1657034"/>
                  </a:lnTo>
                  <a:close/>
                </a:path>
              </a:pathLst>
            </a:custGeom>
            <a:blipFill>
              <a:blip r:embed="rId2"/>
              <a:stretch>
                <a:fillRect l="0" t="-81" r="0" b="-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5143500"/>
            <a:ext cx="4676775" cy="4491990"/>
            <a:chOff x="0" y="0"/>
            <a:chExt cx="1725199" cy="1657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5199" cy="1657034"/>
            </a:xfrm>
            <a:custGeom>
              <a:avLst/>
              <a:gdLst/>
              <a:ahLst/>
              <a:cxnLst/>
              <a:rect r="r" b="b" t="t" l="l"/>
              <a:pathLst>
                <a:path h="1657034" w="1725199">
                  <a:moveTo>
                    <a:pt x="0" y="0"/>
                  </a:moveTo>
                  <a:lnTo>
                    <a:pt x="1725199" y="0"/>
                  </a:lnTo>
                  <a:lnTo>
                    <a:pt x="1725199" y="1657034"/>
                  </a:lnTo>
                  <a:lnTo>
                    <a:pt x="0" y="1657034"/>
                  </a:lnTo>
                  <a:close/>
                </a:path>
              </a:pathLst>
            </a:custGeom>
            <a:blipFill>
              <a:blip r:embed="rId3"/>
              <a:stretch>
                <a:fillRect l="-25" t="0" r="-2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81575" y="5143500"/>
            <a:ext cx="4010025" cy="4491990"/>
            <a:chOff x="0" y="0"/>
            <a:chExt cx="1479244" cy="1657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9244" cy="1657034"/>
            </a:xfrm>
            <a:custGeom>
              <a:avLst/>
              <a:gdLst/>
              <a:ahLst/>
              <a:cxnLst/>
              <a:rect r="r" b="b" t="t" l="l"/>
              <a:pathLst>
                <a:path h="1657034" w="1479244">
                  <a:moveTo>
                    <a:pt x="0" y="0"/>
                  </a:moveTo>
                  <a:lnTo>
                    <a:pt x="1479244" y="0"/>
                  </a:lnTo>
                  <a:lnTo>
                    <a:pt x="1479244" y="1657034"/>
                  </a:lnTo>
                  <a:lnTo>
                    <a:pt x="0" y="1657034"/>
                  </a:lnTo>
                  <a:close/>
                </a:path>
              </a:pathLst>
            </a:custGeom>
            <a:blipFill>
              <a:blip r:embed="rId4"/>
              <a:stretch>
                <a:fillRect l="0" t="-81" r="0" b="-8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12639675" cy="3082817"/>
            <a:chOff x="0" y="0"/>
            <a:chExt cx="16852900" cy="41104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343006"/>
              <a:ext cx="149352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Managing Content and Engagement for Optimal Learning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2" y="3223539"/>
              <a:ext cx="14935178" cy="886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</a:pPr>
              <a:r>
                <a:rPr lang="en-US" sz="2000">
                  <a:solidFill>
                    <a:srgbClr val="635F9A"/>
                  </a:solidFill>
                  <a:latin typeface="Carlito"/>
                  <a:ea typeface="Carlito"/>
                  <a:cs typeface="Carlito"/>
                  <a:sym typeface="Carlito"/>
                </a:rPr>
                <a:t>The admin panel is designed to streamline the management of users, courses, and engagement metrics, ensuring quality control and continuous improvement of the learning experience.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2875"/>
              <a:ext cx="16852900" cy="1275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sz="69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Admin Panel Overview</a:t>
              </a:r>
            </a:p>
          </p:txBody>
        </p:sp>
        <p:sp>
          <p:nvSpPr>
            <p:cNvPr name="AutoShape 12" id="12"/>
            <p:cNvSpPr/>
            <p:nvPr/>
          </p:nvSpPr>
          <p:spPr>
            <a:xfrm flipV="true">
              <a:off x="14" y="1910080"/>
              <a:ext cx="16852886" cy="0"/>
            </a:xfrm>
            <a:prstGeom prst="line">
              <a:avLst/>
            </a:prstGeom>
            <a:ln cap="flat" w="25400">
              <a:solidFill>
                <a:srgbClr val="635F9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66750" y="9184102"/>
            <a:ext cx="2171730" cy="2205796"/>
            <a:chOff x="0" y="0"/>
            <a:chExt cx="812800" cy="825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" y="0"/>
              <a:ext cx="8102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02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635F9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7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04632" y="666750"/>
            <a:ext cx="3126143" cy="4768453"/>
            <a:chOff x="0" y="0"/>
            <a:chExt cx="1076712" cy="1642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712" cy="1642359"/>
            </a:xfrm>
            <a:custGeom>
              <a:avLst/>
              <a:gdLst/>
              <a:ahLst/>
              <a:cxnLst/>
              <a:rect r="r" b="b" t="t" l="l"/>
              <a:pathLst>
                <a:path h="1642359" w="1076712">
                  <a:moveTo>
                    <a:pt x="0" y="0"/>
                  </a:moveTo>
                  <a:lnTo>
                    <a:pt x="1076712" y="0"/>
                  </a:lnTo>
                  <a:lnTo>
                    <a:pt x="1076712" y="1642359"/>
                  </a:lnTo>
                  <a:lnTo>
                    <a:pt x="0" y="1642359"/>
                  </a:lnTo>
                  <a:close/>
                </a:path>
              </a:pathLst>
            </a:custGeom>
            <a:blipFill>
              <a:blip r:embed="rId2"/>
              <a:stretch>
                <a:fillRect l="0" t="-333" r="0" b="-3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48446" y="666750"/>
            <a:ext cx="3126143" cy="4768453"/>
            <a:chOff x="0" y="0"/>
            <a:chExt cx="1076712" cy="16423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6712" cy="1642359"/>
            </a:xfrm>
            <a:custGeom>
              <a:avLst/>
              <a:gdLst/>
              <a:ahLst/>
              <a:cxnLst/>
              <a:rect r="r" b="b" t="t" l="l"/>
              <a:pathLst>
                <a:path h="1642359" w="1076712">
                  <a:moveTo>
                    <a:pt x="0" y="0"/>
                  </a:moveTo>
                  <a:lnTo>
                    <a:pt x="1076712" y="0"/>
                  </a:lnTo>
                  <a:lnTo>
                    <a:pt x="1076712" y="1642359"/>
                  </a:lnTo>
                  <a:lnTo>
                    <a:pt x="0" y="1642359"/>
                  </a:lnTo>
                  <a:close/>
                </a:path>
              </a:pathLst>
            </a:custGeom>
            <a:blipFill>
              <a:blip r:embed="rId3"/>
              <a:stretch>
                <a:fillRect l="0" t="-333" r="0" b="-3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62850" y="666750"/>
            <a:ext cx="3126143" cy="4768453"/>
            <a:chOff x="0" y="0"/>
            <a:chExt cx="1076712" cy="16423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6712" cy="1642359"/>
            </a:xfrm>
            <a:custGeom>
              <a:avLst/>
              <a:gdLst/>
              <a:ahLst/>
              <a:cxnLst/>
              <a:rect r="r" b="b" t="t" l="l"/>
              <a:pathLst>
                <a:path h="1642359" w="1076712">
                  <a:moveTo>
                    <a:pt x="0" y="0"/>
                  </a:moveTo>
                  <a:lnTo>
                    <a:pt x="1076712" y="0"/>
                  </a:lnTo>
                  <a:lnTo>
                    <a:pt x="1076712" y="1642359"/>
                  </a:lnTo>
                  <a:lnTo>
                    <a:pt x="0" y="1642359"/>
                  </a:lnTo>
                  <a:close/>
                </a:path>
              </a:pathLst>
            </a:custGeom>
            <a:blipFill>
              <a:blip r:embed="rId4"/>
              <a:stretch>
                <a:fillRect l="0" t="-333" r="0" b="-33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33665" y="666750"/>
            <a:ext cx="3126143" cy="4768453"/>
            <a:chOff x="0" y="0"/>
            <a:chExt cx="1076712" cy="16423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6712" cy="1642359"/>
            </a:xfrm>
            <a:custGeom>
              <a:avLst/>
              <a:gdLst/>
              <a:ahLst/>
              <a:cxnLst/>
              <a:rect r="r" b="b" t="t" l="l"/>
              <a:pathLst>
                <a:path h="1642359" w="1076712">
                  <a:moveTo>
                    <a:pt x="0" y="0"/>
                  </a:moveTo>
                  <a:lnTo>
                    <a:pt x="1076712" y="0"/>
                  </a:lnTo>
                  <a:lnTo>
                    <a:pt x="1076712" y="1642359"/>
                  </a:lnTo>
                  <a:lnTo>
                    <a:pt x="0" y="1642359"/>
                  </a:lnTo>
                  <a:close/>
                </a:path>
              </a:pathLst>
            </a:custGeom>
            <a:blipFill>
              <a:blip r:embed="rId5"/>
              <a:stretch>
                <a:fillRect l="0" t="-333" r="0" b="-33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6750" y="666750"/>
            <a:ext cx="3126143" cy="4768453"/>
            <a:chOff x="0" y="0"/>
            <a:chExt cx="1076712" cy="16423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712" cy="1642359"/>
            </a:xfrm>
            <a:custGeom>
              <a:avLst/>
              <a:gdLst/>
              <a:ahLst/>
              <a:cxnLst/>
              <a:rect r="r" b="b" t="t" l="l"/>
              <a:pathLst>
                <a:path h="1642359" w="1076712">
                  <a:moveTo>
                    <a:pt x="0" y="0"/>
                  </a:moveTo>
                  <a:lnTo>
                    <a:pt x="1076712" y="0"/>
                  </a:lnTo>
                  <a:lnTo>
                    <a:pt x="1076712" y="1642359"/>
                  </a:lnTo>
                  <a:lnTo>
                    <a:pt x="0" y="1642359"/>
                  </a:lnTo>
                  <a:close/>
                </a:path>
              </a:pathLst>
            </a:custGeom>
            <a:blipFill>
              <a:blip r:embed="rId6"/>
              <a:stretch>
                <a:fillRect l="0" t="-333" r="0" b="-3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6750" y="5769327"/>
            <a:ext cx="2857488" cy="2359903"/>
            <a:chOff x="0" y="0"/>
            <a:chExt cx="3809984" cy="314653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3809984" cy="903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732"/>
                </a:lnSpc>
                <a:spcBef>
                  <a:spcPct val="0"/>
                </a:spcBef>
              </a:pPr>
              <a:r>
                <a:rPr lang="en-US" sz="4094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Security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67475"/>
              <a:ext cx="3807694" cy="1979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5"/>
                </a:lnSpc>
                <a:spcBef>
                  <a:spcPct val="0"/>
                </a:spcBef>
              </a:pPr>
              <a:r>
                <a:rPr lang="en-US" sz="2796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Ensuring safe execution of user code.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133665" y="5688965"/>
            <a:ext cx="3429185" cy="1964001"/>
            <a:chOff x="0" y="0"/>
            <a:chExt cx="4572246" cy="261866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4572246" cy="794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3"/>
                </a:lnSpc>
                <a:spcBef>
                  <a:spcPct val="0"/>
                </a:spcBef>
              </a:pPr>
              <a:r>
                <a:rPr lang="en-US" sz="3637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Personalization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20468"/>
              <a:ext cx="4572246" cy="159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1"/>
                </a:lnSpc>
                <a:spcBef>
                  <a:spcPct val="0"/>
                </a:spcBef>
              </a:pPr>
              <a:r>
                <a:rPr lang="en-US" sz="2279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Enhancing engagement through tailored learning paths.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62850" y="5769327"/>
            <a:ext cx="3126143" cy="2084645"/>
            <a:chOff x="0" y="0"/>
            <a:chExt cx="4168191" cy="277952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76200"/>
              <a:ext cx="4168191" cy="806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63"/>
                </a:lnSpc>
                <a:spcBef>
                  <a:spcPct val="0"/>
                </a:spcBef>
              </a:pPr>
              <a:r>
                <a:rPr lang="en-US" sz="3616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Quality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45433"/>
              <a:ext cx="4168191" cy="1734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Maintaining consistent and high-quality curriculum.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48446" y="5688965"/>
            <a:ext cx="3126143" cy="2084645"/>
            <a:chOff x="0" y="0"/>
            <a:chExt cx="4168191" cy="2779526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76200"/>
              <a:ext cx="4168191" cy="8067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63"/>
                </a:lnSpc>
                <a:spcBef>
                  <a:spcPct val="0"/>
                </a:spcBef>
              </a:pPr>
              <a:r>
                <a:rPr lang="en-US" sz="3616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Scalability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45433"/>
              <a:ext cx="4168191" cy="1734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58"/>
                </a:lnSpc>
                <a:spcBef>
                  <a:spcPct val="0"/>
                </a:spcBef>
              </a:pPr>
              <a:r>
                <a:rPr lang="en-US" sz="2470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Supporting growth through modular architecture.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504632" y="5688965"/>
            <a:ext cx="3320204" cy="1684142"/>
            <a:chOff x="0" y="0"/>
            <a:chExt cx="4426938" cy="224552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66675"/>
              <a:ext cx="4426938" cy="810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55"/>
                </a:lnSpc>
                <a:spcBef>
                  <a:spcPct val="0"/>
                </a:spcBef>
              </a:pPr>
              <a:r>
                <a:rPr lang="en-US" sz="3682">
                  <a:solidFill>
                    <a:srgbClr val="EBEEF3"/>
                  </a:solidFill>
                  <a:latin typeface="Radley"/>
                  <a:ea typeface="Radley"/>
                  <a:cs typeface="Radley"/>
                  <a:sym typeface="Radley"/>
                </a:rPr>
                <a:t>Privacy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056683"/>
              <a:ext cx="4426938" cy="1188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21"/>
                </a:lnSpc>
                <a:spcBef>
                  <a:spcPct val="0"/>
                </a:spcBef>
              </a:pPr>
              <a:r>
                <a:rPr lang="en-US" sz="2515" strike="noStrike" u="none">
                  <a:solidFill>
                    <a:srgbClr val="EBEEF3"/>
                  </a:solidFill>
                  <a:latin typeface="Carlito"/>
                  <a:ea typeface="Carlito"/>
                  <a:cs typeface="Carlito"/>
                  <a:sym typeface="Carlito"/>
                </a:rPr>
                <a:t>Protecting user data with strong measures.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6275" y="8520504"/>
            <a:ext cx="16954500" cy="10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EBEEF3"/>
                </a:solidFill>
                <a:latin typeface="Radley"/>
                <a:ea typeface="Radley"/>
                <a:cs typeface="Radley"/>
                <a:sym typeface="Radley"/>
              </a:rPr>
              <a:t>Key Challenges and Solutions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32737" y="2273940"/>
            <a:ext cx="7471657" cy="5210489"/>
            <a:chOff x="0" y="0"/>
            <a:chExt cx="9962209" cy="6947318"/>
          </a:xfrm>
        </p:grpSpPr>
        <p:sp>
          <p:nvSpPr>
            <p:cNvPr name="AutoShape 3" id="3"/>
            <p:cNvSpPr/>
            <p:nvPr/>
          </p:nvSpPr>
          <p:spPr>
            <a:xfrm flipV="true">
              <a:off x="54" y="4368372"/>
              <a:ext cx="9962139" cy="12700"/>
            </a:xfrm>
            <a:prstGeom prst="line">
              <a:avLst/>
            </a:prstGeom>
            <a:ln cap="flat" w="25400">
              <a:solidFill>
                <a:srgbClr val="635F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 flipV="true">
              <a:off x="19" y="1867746"/>
              <a:ext cx="9962139" cy="12700"/>
            </a:xfrm>
            <a:prstGeom prst="line">
              <a:avLst/>
            </a:prstGeom>
            <a:ln cap="flat" w="25400">
              <a:solidFill>
                <a:srgbClr val="635F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38" y="-104775"/>
              <a:ext cx="9962139" cy="626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635F9A"/>
                  </a:solidFill>
                  <a:latin typeface="Carlito"/>
                  <a:ea typeface="Carlito"/>
                  <a:cs typeface="Carlito"/>
                  <a:sym typeface="Carlito"/>
                </a:rPr>
                <a:t>WEBSITE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38" y="534246"/>
              <a:ext cx="9962139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34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codewave</a:t>
              </a:r>
              <a:r>
                <a:rPr lang="en-US" sz="34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8" y="2408552"/>
              <a:ext cx="9962139" cy="626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635F9A"/>
                  </a:solidFill>
                  <a:latin typeface="Carlito"/>
                  <a:ea typeface="Carlito"/>
                  <a:cs typeface="Carlito"/>
                  <a:sym typeface="Carlito"/>
                </a:rPr>
                <a:t>COURSE NAME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034872"/>
              <a:ext cx="9962139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Application Development COMP420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911297"/>
              <a:ext cx="9962139" cy="626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635F9A"/>
                  </a:solidFill>
                  <a:latin typeface="Carlito"/>
                  <a:ea typeface="Carlito"/>
                  <a:cs typeface="Carlito"/>
                  <a:sym typeface="Carlito"/>
                </a:rPr>
                <a:t>TEAM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550318"/>
              <a:ext cx="9962139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34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Nour Hamoud - Fatima Mansour</a:t>
              </a:r>
            </a:p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Haidar Al-Mokdad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2888897"/>
            <a:ext cx="8324850" cy="4061144"/>
            <a:chOff x="0" y="0"/>
            <a:chExt cx="11099800" cy="541485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49111" y="1414779"/>
              <a:ext cx="11050689" cy="4000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40"/>
                </a:lnSpc>
              </a:pPr>
              <a:r>
                <a:rPr lang="en-US" sz="7000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Get in Touch with CodeWave Team</a:t>
              </a:r>
            </a:p>
            <a:p>
              <a:pPr algn="l" marL="0" indent="0" lvl="0">
                <a:lnSpc>
                  <a:spcPts val="7840"/>
                </a:lnSpc>
              </a:pPr>
              <a:r>
                <a:rPr lang="en-US" sz="7000">
                  <a:solidFill>
                    <a:srgbClr val="635F9A"/>
                  </a:solidFill>
                  <a:latin typeface="Radley"/>
                  <a:ea typeface="Radley"/>
                  <a:cs typeface="Radley"/>
                  <a:sym typeface="Radley"/>
                </a:rPr>
                <a:t>Any Question?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5250"/>
              <a:ext cx="11050689" cy="806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99"/>
                </a:lnSpc>
              </a:pPr>
              <a:r>
                <a:rPr lang="en-US" sz="4499" i="true">
                  <a:solidFill>
                    <a:srgbClr val="635F9A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Thankyou :)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CodeWave</dc:description>
  <dc:identifier>DAG_VfeqXtw</dc:identifier>
  <dcterms:modified xsi:type="dcterms:W3CDTF">2011-08-01T06:04:30Z</dcterms:modified>
  <cp:revision>1</cp:revision>
  <dc:title>Presentation - CodeWave</dc:title>
</cp:coreProperties>
</file>